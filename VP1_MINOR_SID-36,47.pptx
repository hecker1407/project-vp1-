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75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86939" y="517518"/>
            <a:ext cx="7799832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00AEA6"/>
                </a:solidFill>
                <a:latin typeface="Aptos"/>
              </a:defRPr>
            </a:pPr>
            <a:r>
              <a:rPr sz="3200" b="1" dirty="0">
                <a:solidFill>
                  <a:srgbClr val="102A43"/>
                </a:solidFill>
                <a:latin typeface="Aptos Display"/>
              </a:rPr>
              <a:t>PUNJAB ENGINEERING COLLEGE  |  MMED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7121" y="1524511"/>
            <a:ext cx="786384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7F9FC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Machine Learning-Assisted Prediction and Interpretation of Adsorption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82058"/>
            <a:ext cx="7040880" cy="70788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0">
                <a:solidFill>
                  <a:srgbClr val="E1EAF3"/>
                </a:solidFill>
                <a:latin typeface="Aptos"/>
              </a:defRPr>
            </a:pPr>
            <a:r>
              <a:rPr sz="2000" dirty="0">
                <a:solidFill>
                  <a:srgbClr val="253746"/>
                </a:solidFill>
                <a:latin typeface="Aptos"/>
              </a:rPr>
              <a:t>Water pollutant removal: Pb(II), Cd(II), methylene blue and Congo 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61347"/>
            <a:ext cx="68580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00AEA6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Mid-semester minor project progress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83631"/>
            <a:ext cx="6858000" cy="78483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>
                <a:solidFill>
                  <a:srgbClr val="F7F9FC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Aditya Agrawal  •  Sarthak Srivastava</a:t>
            </a:r>
            <a:endParaRPr lang="en-IN" dirty="0">
              <a:solidFill>
                <a:srgbClr val="253746"/>
              </a:solidFill>
              <a:latin typeface="Aptos"/>
            </a:endParaRPr>
          </a:p>
          <a:p>
            <a:pPr>
              <a:defRPr sz="1500" b="0">
                <a:solidFill>
                  <a:srgbClr val="F7F9FC"/>
                </a:solidFill>
                <a:latin typeface="Aptos"/>
              </a:defRPr>
            </a:pPr>
            <a:r>
              <a:rPr lang="en-IN" dirty="0">
                <a:solidFill>
                  <a:srgbClr val="253746"/>
                </a:solidFill>
                <a:latin typeface="Aptos"/>
              </a:rPr>
              <a:t>SIDs :- 24108036 • 24108047</a:t>
            </a:r>
          </a:p>
          <a:p>
            <a:pPr>
              <a:defRPr sz="1500" b="0">
                <a:solidFill>
                  <a:srgbClr val="F7F9FC"/>
                </a:solidFill>
                <a:latin typeface="Aptos"/>
              </a:defRPr>
            </a:pPr>
            <a:r>
              <a:rPr lang="en-IN" dirty="0">
                <a:solidFill>
                  <a:srgbClr val="253746"/>
                </a:solidFill>
                <a:latin typeface="Aptos"/>
              </a:rPr>
              <a:t>Mentor :- Dr. </a:t>
            </a:r>
            <a:r>
              <a:rPr lang="en-IN" dirty="0" err="1">
                <a:solidFill>
                  <a:srgbClr val="253746"/>
                </a:solidFill>
                <a:latin typeface="Aptos"/>
              </a:rPr>
              <a:t>Vishwendra</a:t>
            </a:r>
            <a:r>
              <a:rPr lang="en-IN" dirty="0">
                <a:solidFill>
                  <a:srgbClr val="253746"/>
                </a:solidFill>
                <a:latin typeface="Aptos"/>
              </a:rPr>
              <a:t> Pratap Singh | MMED | PEC</a:t>
            </a:r>
            <a:endParaRPr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12" name="Visual accent top slid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Visual footer rule slide 1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93BE7D1-4098-1F08-B3B8-58E4095C0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339" y="2458804"/>
            <a:ext cx="4628574" cy="31026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F6C378-31CD-897E-8FB6-10D657ECF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28" y="127681"/>
            <a:ext cx="1277479" cy="12744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6190"/>
            <a:ext cx="11064240" cy="9541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rPr sz="2800" b="1" dirty="0">
                <a:solidFill>
                  <a:srgbClr val="102A43"/>
                </a:solidFill>
                <a:latin typeface="Aptos Display"/>
              </a:rPr>
              <a:t>1. The engineering problem: polluted water, variable adsorption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12854"/>
            <a:ext cx="109728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A4B7CA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Why industry needs a predictive and interpretable approach</a:t>
            </a:r>
            <a:r>
              <a:rPr lang="en-IN" dirty="0">
                <a:solidFill>
                  <a:srgbClr val="253746"/>
                </a:solidFill>
                <a:latin typeface="Aptos"/>
              </a:rPr>
              <a:t> ?</a:t>
            </a:r>
            <a:endParaRPr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567440"/>
            <a:ext cx="1005840" cy="41148"/>
          </a:xfrm>
          <a:prstGeom prst="rect">
            <a:avLst/>
          </a:prstGeom>
          <a:solidFill>
            <a:srgbClr val="00AEA6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00AEA6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32304"/>
            <a:ext cx="6492240" cy="448056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7F9FC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•  Industrial effluents may contain toxic metal ions (Pb²⁺, Cd²⁺) and </a:t>
            </a:r>
            <a:r>
              <a:rPr dirty="0" err="1">
                <a:solidFill>
                  <a:srgbClr val="253746"/>
                </a:solidFill>
                <a:latin typeface="Aptos"/>
              </a:rPr>
              <a:t>coloured</a:t>
            </a:r>
            <a:r>
              <a:rPr dirty="0">
                <a:solidFill>
                  <a:srgbClr val="253746"/>
                </a:solidFill>
                <a:latin typeface="Aptos"/>
              </a:rPr>
              <a:t> organic dyes (methylene blue, Congo red).</a:t>
            </a:r>
          </a:p>
          <a:p>
            <a:pPr>
              <a:spcAft>
                <a:spcPts val="800"/>
              </a:spcAft>
              <a:defRPr sz="1600">
                <a:solidFill>
                  <a:srgbClr val="F7F9FC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•  Sources include metal finishing/battery-related streams and dyeing/textile processes; actual effluent composition varies by industry.</a:t>
            </a:r>
          </a:p>
          <a:p>
            <a:pPr>
              <a:spcAft>
                <a:spcPts val="800"/>
              </a:spcAft>
              <a:defRPr sz="1600">
                <a:solidFill>
                  <a:srgbClr val="F7F9FC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•  Adsorption transfers pollutants from water to a solid adsorbent; performance depends on both the material and operating conditions.</a:t>
            </a:r>
          </a:p>
          <a:p>
            <a:pPr>
              <a:spcAft>
                <a:spcPts val="800"/>
              </a:spcAft>
              <a:defRPr sz="1600">
                <a:solidFill>
                  <a:srgbClr val="F7F9FC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•  Trial-and-error experiments consume time, chemicals and analytical effort. A reliable predictor could screen conditions and prioritize experiments.</a:t>
            </a:r>
          </a:p>
          <a:p>
            <a:pPr>
              <a:spcAft>
                <a:spcPts val="800"/>
              </a:spcAft>
              <a:defRPr sz="1600">
                <a:solidFill>
                  <a:srgbClr val="F7F9FC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•  Engineering challenge: predict equilibrium adsorption capacity (qₑ, mg/g) while understanding the limits of the prediction.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892040"/>
            <a:ext cx="36576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00AEA6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Industrial relevance: process screening • adsorbent selection • reduced experimental burden</a:t>
            </a:r>
          </a:p>
        </p:txBody>
      </p:sp>
      <p:sp>
        <p:nvSpPr>
          <p:cNvPr id="13" name="Visual accent top slide 2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Visual footer rule slide 2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DD30D6-0C45-BDEB-76D5-BDA52BA16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54670"/>
            <a:ext cx="4783415" cy="33825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rPr sz="2800" b="1" dirty="0">
                <a:solidFill>
                  <a:srgbClr val="102A43"/>
                </a:solidFill>
                <a:latin typeface="Aptos Display"/>
              </a:rPr>
              <a:t>2. Aim, objectives and pollutant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A4B7CA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Progress is staged: first establish a traceable literature baseline, then extend and validate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05840" cy="41148"/>
          </a:xfrm>
          <a:prstGeom prst="rect">
            <a:avLst/>
          </a:prstGeom>
          <a:solidFill>
            <a:srgbClr val="00AEA6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00AEA6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520440" cy="137160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72768"/>
            <a:ext cx="3246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00AEA6"/>
                </a:solidFill>
                <a:latin typeface="Aptos"/>
              </a:defRPr>
            </a:pPr>
            <a:r>
              <a:rPr b="1">
                <a:solidFill>
                  <a:srgbClr val="FFFFFF"/>
                </a:solidFill>
                <a:latin typeface="Aptos"/>
              </a:rPr>
              <a:t>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38528"/>
            <a:ext cx="32461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Build an interpretable ML workflow to estimate adsorption capacity from material properties and experimental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520440" cy="137160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9704" y="1572768"/>
            <a:ext cx="3246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00AEA6"/>
                </a:solidFill>
                <a:latin typeface="Aptos"/>
              </a:defRPr>
            </a:pPr>
            <a:r>
              <a:rPr b="1">
                <a:solidFill>
                  <a:srgbClr val="FFFFFF"/>
                </a:solidFill>
                <a:latin typeface="Aptos"/>
              </a:rPr>
              <a:t>POLLUTANTS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1938528"/>
            <a:ext cx="32461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Metals: Pb(II), Cd(II)  |  Dyes: methylene blue (MB), Congo red (CR).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520440" cy="137160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93024" y="1572768"/>
            <a:ext cx="3246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00AEA6"/>
                </a:solidFill>
                <a:latin typeface="Aptos"/>
              </a:defRPr>
            </a:pPr>
            <a:r>
              <a:rPr b="1">
                <a:solidFill>
                  <a:srgbClr val="FFFFFF"/>
                </a:solidFill>
                <a:latin typeface="Aptos"/>
              </a:rP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1938528"/>
            <a:ext cx="32461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Equilibrium adsorption capacity, qₑ (mg/g), as reported or derived in the source literature.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46120"/>
            <a:ext cx="6766560" cy="23317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•  Collect comparable experiments from peer-reviewed literature and retain paper IDs and extraction notes.</a:t>
            </a:r>
          </a:p>
          <a:p>
            <a:pPr>
              <a:spcAft>
                <a:spcPts val="800"/>
              </a:spcAft>
              <a:defRPr sz="15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•  Clean numeric fields, audit ambiguity and missingness, and document all transformations.</a:t>
            </a:r>
          </a:p>
          <a:p>
            <a:pPr>
              <a:spcAft>
                <a:spcPts val="800"/>
              </a:spcAft>
              <a:defRPr sz="15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•  Train a first Linear Regression baseline; evaluate error and interpret coefficients cautiously.</a:t>
            </a:r>
          </a:p>
          <a:p>
            <a:pPr>
              <a:spcAft>
                <a:spcPts val="800"/>
              </a:spcAft>
              <a:defRPr sz="15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•  Extend to non-linear models and source/material-aware validation before claiming generalization.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F5A623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Scope note: the current compiled sheet is an activated-carbon literature dataset; it is not yet a separately identified dataset of metallurgical-waste-derived adsorbents.</a:t>
            </a:r>
          </a:p>
        </p:txBody>
      </p:sp>
      <p:sp>
        <p:nvSpPr>
          <p:cNvPr id="22" name="Visual accent top slide 3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Visual footer rule slide 3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1704754-B805-BC37-2CB0-AA70865D9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275" y="2921984"/>
            <a:ext cx="3654935" cy="231580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E418377-4AC2-E77C-254A-447C7DB95C63}"/>
              </a:ext>
            </a:extLst>
          </p:cNvPr>
          <p:cNvSpPr txBox="1"/>
          <p:nvPr/>
        </p:nvSpPr>
        <p:spPr>
          <a:xfrm>
            <a:off x="8340090" y="5264265"/>
            <a:ext cx="361112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A4B7CA"/>
                </a:solidFill>
                <a:latin typeface="Aptos"/>
              </a:defRPr>
            </a:pPr>
            <a:r>
              <a:rPr lang="en-IN" dirty="0">
                <a:solidFill>
                  <a:srgbClr val="253746"/>
                </a:solidFill>
                <a:latin typeface="Aptos"/>
              </a:rPr>
              <a:t>Polluted Water Bodies due to dyes and heavy metals</a:t>
            </a:r>
            <a:endParaRPr dirty="0">
              <a:solidFill>
                <a:srgbClr val="25374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rPr sz="2800" b="1" dirty="0">
                <a:solidFill>
                  <a:srgbClr val="102A43"/>
                </a:solidFill>
                <a:latin typeface="Aptos Display"/>
              </a:rPr>
              <a:t>3. Variables and their expected influence on qₑ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A4B7CA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Expected mechanisms guide feature selection; effects are conditional, not universal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05840" cy="41148"/>
          </a:xfrm>
          <a:prstGeom prst="rect">
            <a:avLst/>
          </a:prstGeom>
          <a:solidFill>
            <a:srgbClr val="00AEA6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00AEA6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20440" cy="333756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79" y="2028688"/>
            <a:ext cx="3520440" cy="39241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62D7D7"/>
                </a:solidFill>
                <a:latin typeface="Aptos"/>
              </a:defRPr>
            </a:pPr>
            <a:r>
              <a:rPr sz="1950" b="1" dirty="0">
                <a:solidFill>
                  <a:srgbClr val="FFFFFF"/>
                </a:solidFill>
                <a:latin typeface="Aptos"/>
              </a:rPr>
              <a:t>Material descriptors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96895"/>
            <a:ext cx="3246120" cy="2788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F7F9FC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  <a:latin typeface="Aptos"/>
              </a:rPr>
              <a:t>BET surface area (m²/g): accessible area often increases available sites.</a:t>
            </a:r>
            <a:br>
              <a:rPr dirty="0"/>
            </a:br>
            <a:r>
              <a:rPr dirty="0">
                <a:solidFill>
                  <a:srgbClr val="FFFFFF"/>
                </a:solidFill>
                <a:latin typeface="Aptos"/>
              </a:rPr>
              <a:t>Pore volume (cm³/g): pore accessibility and size distribution matter.</a:t>
            </a:r>
            <a:br>
              <a:rPr dirty="0"/>
            </a:br>
            <a:r>
              <a:rPr dirty="0" err="1">
                <a:solidFill>
                  <a:srgbClr val="FFFFFF"/>
                </a:solidFill>
                <a:latin typeface="Aptos"/>
              </a:rPr>
              <a:t>pHₚzc</a:t>
            </a:r>
            <a:r>
              <a:rPr dirty="0">
                <a:solidFill>
                  <a:srgbClr val="FFFFFF"/>
                </a:solidFill>
                <a:latin typeface="Aptos"/>
              </a:rPr>
              <a:t> / elemental composition: surface charge and functional groups.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520440" cy="333756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19" y="1842676"/>
            <a:ext cx="3648458" cy="6924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00AEA6"/>
                </a:solidFill>
                <a:latin typeface="Aptos"/>
              </a:defRPr>
            </a:pPr>
            <a:r>
              <a:rPr sz="1950" b="1" dirty="0">
                <a:solidFill>
                  <a:srgbClr val="FFFFFF"/>
                </a:solidFill>
                <a:latin typeface="Aptos"/>
              </a:rPr>
              <a:t>Solution</a:t>
            </a:r>
            <a:r>
              <a:rPr lang="en-IN" sz="1950" b="1" dirty="0">
                <a:solidFill>
                  <a:srgbClr val="FFFFFF"/>
                </a:solidFill>
                <a:latin typeface="Aptos"/>
              </a:rPr>
              <a:t>s</a:t>
            </a:r>
            <a:r>
              <a:rPr sz="1950" b="1" dirty="0">
                <a:solidFill>
                  <a:srgbClr val="FFFFFF"/>
                </a:solidFill>
                <a:latin typeface="Aptos"/>
              </a:rPr>
              <a:t> / operating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140" y="2596895"/>
            <a:ext cx="3246120" cy="2788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F7F9FC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  <a:latin typeface="Aptos"/>
              </a:rPr>
              <a:t>Initial concentration C₀ (mg/L): changes driving force and site saturation.</a:t>
            </a:r>
            <a:br>
              <a:rPr dirty="0"/>
            </a:br>
            <a:r>
              <a:rPr dirty="0">
                <a:solidFill>
                  <a:srgbClr val="FFFFFF"/>
                </a:solidFill>
                <a:latin typeface="Aptos"/>
              </a:rPr>
              <a:t>pH: changes pollutant speciation and adsorbent surface charge.</a:t>
            </a:r>
            <a:br>
              <a:rPr dirty="0"/>
            </a:br>
            <a:r>
              <a:rPr dirty="0">
                <a:solidFill>
                  <a:srgbClr val="FFFFFF"/>
                </a:solidFill>
                <a:latin typeface="Aptos"/>
              </a:rPr>
              <a:t>Dosage (g/L): more mass may raise removal %, but qₑ per gram may fall.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554480"/>
            <a:ext cx="3520440" cy="333756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8" y="1991220"/>
            <a:ext cx="3246120" cy="39241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F5A623"/>
                </a:solidFill>
                <a:latin typeface="Aptos"/>
              </a:defRPr>
            </a:pPr>
            <a:r>
              <a:rPr sz="1950" b="1" dirty="0">
                <a:solidFill>
                  <a:srgbClr val="FFFFFF"/>
                </a:solidFill>
                <a:latin typeface="Aptos"/>
              </a:rPr>
              <a:t>Kinetics / thermodynamics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8190" y="2596895"/>
            <a:ext cx="3246120" cy="2788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F7F9FC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  <a:latin typeface="Aptos"/>
              </a:rPr>
              <a:t>Contact time (min): uptake rises until equilibrium is approached.</a:t>
            </a:r>
            <a:br>
              <a:rPr dirty="0"/>
            </a:br>
            <a:r>
              <a:rPr dirty="0">
                <a:solidFill>
                  <a:srgbClr val="FFFFFF"/>
                </a:solidFill>
                <a:latin typeface="Aptos"/>
              </a:rPr>
              <a:t>Temperature (K): effect depends on adsorption thermodynamics.</a:t>
            </a:r>
            <a:br>
              <a:rPr dirty="0"/>
            </a:br>
            <a:r>
              <a:rPr dirty="0">
                <a:solidFill>
                  <a:srgbClr val="FFFFFF"/>
                </a:solidFill>
                <a:latin typeface="Aptos"/>
              </a:rPr>
              <a:t>Pollutant identity: metal ions and dyes have different interaction mechanisms.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57800"/>
            <a:ext cx="10789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Target: qₑ = (C₀ − Cₑ)V / m = (C₀ − Cₑ) / dose  [mg/g when concentrations are mg/L and dose is g/L]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97880"/>
            <a:ext cx="10789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F5A623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Cₑ is post-adsorption information: kept for mass-balance QC, excluded from pre-experiment predictors to avoid target leakage.</a:t>
            </a:r>
          </a:p>
        </p:txBody>
      </p:sp>
      <p:sp>
        <p:nvSpPr>
          <p:cNvPr id="18" name="Visual accent top slid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Visual footer rule slide 4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rPr sz="2800" b="1" dirty="0">
                <a:solidFill>
                  <a:srgbClr val="102A43"/>
                </a:solidFill>
                <a:latin typeface="Aptos Display"/>
              </a:rPr>
              <a:t>4. Literature review: evidence base and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A4B7CA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Master list records </a:t>
            </a:r>
            <a:r>
              <a:rPr lang="en-IN" dirty="0">
                <a:solidFill>
                  <a:srgbClr val="253746"/>
                </a:solidFill>
                <a:latin typeface="Aptos"/>
              </a:rPr>
              <a:t>32</a:t>
            </a:r>
            <a:r>
              <a:rPr dirty="0">
                <a:solidFill>
                  <a:srgbClr val="253746"/>
                </a:solidFill>
                <a:latin typeface="Aptos"/>
              </a:rPr>
              <a:t> included papers and </a:t>
            </a:r>
            <a:r>
              <a:rPr lang="en-IN" dirty="0">
                <a:solidFill>
                  <a:srgbClr val="253746"/>
                </a:solidFill>
                <a:latin typeface="Aptos"/>
              </a:rPr>
              <a:t>7</a:t>
            </a:r>
            <a:r>
              <a:rPr dirty="0">
                <a:solidFill>
                  <a:srgbClr val="253746"/>
                </a:solidFill>
                <a:latin typeface="Aptos"/>
              </a:rPr>
              <a:t> excluded papers; inclusion depends on usable material-property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05840" cy="41148"/>
          </a:xfrm>
          <a:prstGeom prst="rect">
            <a:avLst/>
          </a:prstGeom>
          <a:solidFill>
            <a:srgbClr val="00AEA6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00AEA6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2377440" cy="114300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72768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00AEA6"/>
                </a:solidFill>
                <a:latin typeface="Aptos"/>
              </a:defRPr>
            </a:pPr>
            <a:r>
              <a:rPr lang="en-IN" b="1" dirty="0">
                <a:solidFill>
                  <a:srgbClr val="FFFFFF"/>
                </a:solidFill>
                <a:latin typeface="Aptos"/>
              </a:rPr>
              <a:t>32</a:t>
            </a:r>
            <a:r>
              <a:rPr b="1" dirty="0">
                <a:solidFill>
                  <a:srgbClr val="FFFFFF"/>
                </a:solidFill>
                <a:latin typeface="Aptos"/>
              </a:rPr>
              <a:t> INCLUDED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38528"/>
            <a:ext cx="21031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Papers with data accepted under current extraction criteria.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63040"/>
            <a:ext cx="2377440" cy="114300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92424" y="1572768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F5A623"/>
                </a:solidFill>
                <a:latin typeface="Aptos"/>
              </a:defRPr>
            </a:pPr>
            <a:r>
              <a:rPr lang="en-IN" b="1" dirty="0">
                <a:solidFill>
                  <a:srgbClr val="FFFFFF"/>
                </a:solidFill>
                <a:latin typeface="Aptos"/>
              </a:rPr>
              <a:t>7</a:t>
            </a:r>
            <a:r>
              <a:rPr b="1" dirty="0">
                <a:solidFill>
                  <a:srgbClr val="FFFFFF"/>
                </a:solidFill>
                <a:latin typeface="Aptos"/>
              </a:rPr>
              <a:t> EXCLUDED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1938528"/>
            <a:ext cx="21031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Main reasons include missing/unusable BET or pore-volume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463040"/>
            <a:ext cx="2377440" cy="114300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52744" y="1572768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62D7D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32 SOURCE 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1938528"/>
            <a:ext cx="21031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Across current compiled observations; 74 precursor labels.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463040"/>
            <a:ext cx="3063240" cy="114300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13064" y="1572768"/>
            <a:ext cx="2788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00AEA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488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1938528"/>
            <a:ext cx="27889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Literature observations in CompilationData.xlsx before cleaning.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00400"/>
            <a:ext cx="6720840" cy="278743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rPr lang="en-US" b="1" dirty="0">
                <a:solidFill>
                  <a:srgbClr val="253746"/>
                </a:solidFill>
                <a:latin typeface="Aptos"/>
              </a:rPr>
              <a:t>KEY IMPORTANT PAPERS</a:t>
            </a:r>
            <a:r>
              <a:rPr lang="en-US" dirty="0">
                <a:solidFill>
                  <a:srgbClr val="253746"/>
                </a:solidFill>
                <a:latin typeface="Aptos"/>
              </a:rP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•  Lead: Yi et al. (2016), coal-based activated carbon; Pam et al. (2018), modified palm-kernel-shell activated carbon.</a:t>
            </a:r>
          </a:p>
          <a:p>
            <a:pPr>
              <a:spcAft>
                <a:spcPts val="8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•  Metals / AI: 2024 sewage-sludge-based activated carbon for Cd/Pb; 2025 Pb adsorption study including AI modelling.</a:t>
            </a:r>
          </a:p>
          <a:p>
            <a:pPr>
              <a:spcAft>
                <a:spcPts val="8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•  Dyes: comparative methylene-blue adsorption on activated carbons (2011); activated-carbon studies for MB and Congo red (2020–2025).</a:t>
            </a:r>
          </a:p>
          <a:p>
            <a:pPr>
              <a:spcAft>
                <a:spcPts val="800"/>
              </a:spcAft>
              <a:defRPr sz="1300">
                <a:solidFill>
                  <a:srgbClr val="F7F9FC"/>
                </a:solidFill>
                <a:latin typeface="Aptos"/>
              </a:defRPr>
            </a:pPr>
            <a:endParaRPr lang="en-IN" dirty="0">
              <a:solidFill>
                <a:srgbClr val="253746"/>
              </a:solidFill>
              <a:latin typeface="Aptos"/>
            </a:endParaRPr>
          </a:p>
          <a:p>
            <a:pPr>
              <a:spcAft>
                <a:spcPts val="8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Gap motivating this work: results are reported across different materials, concentrations, pH, units and extraction formats; cross-study comparison needs harmonization and transparent QC.</a:t>
            </a:r>
          </a:p>
        </p:txBody>
      </p:sp>
      <p:sp>
        <p:nvSpPr>
          <p:cNvPr id="25" name="Visual accent top slide 5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Visual footer rule slide 5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8645BDB-D18F-D543-2F37-7BBFFD13F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233" y="3286895"/>
            <a:ext cx="3964927" cy="261443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E51C194-00F0-47B3-B85D-6065434B866B}"/>
              </a:ext>
            </a:extLst>
          </p:cNvPr>
          <p:cNvSpPr txBox="1"/>
          <p:nvPr/>
        </p:nvSpPr>
        <p:spPr>
          <a:xfrm>
            <a:off x="7731535" y="5965120"/>
            <a:ext cx="3706321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A4B7CA"/>
                </a:solidFill>
                <a:latin typeface="Aptos"/>
              </a:defRPr>
            </a:pPr>
            <a:r>
              <a:rPr lang="en-IN" dirty="0">
                <a:solidFill>
                  <a:srgbClr val="253746"/>
                </a:solidFill>
                <a:latin typeface="Aptos"/>
              </a:rPr>
              <a:t>List of All the Papers and its Details (Excel File Present)</a:t>
            </a:r>
            <a:endParaRPr dirty="0">
              <a:solidFill>
                <a:srgbClr val="25374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rPr sz="2800" b="1" dirty="0">
                <a:solidFill>
                  <a:srgbClr val="102A43"/>
                </a:solidFill>
                <a:latin typeface="Aptos Display"/>
              </a:rPr>
              <a:t>5. Data collection and cleaning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A4B7CA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Use the source workbook as the audit trail; never silently convert uncertainty into certainty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05840" cy="41148"/>
          </a:xfrm>
          <a:prstGeom prst="rect">
            <a:avLst/>
          </a:prstGeom>
          <a:solidFill>
            <a:srgbClr val="00AEA6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00AEA6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148840" cy="164592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801368"/>
            <a:ext cx="1874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00AEA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1  Search &amp;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284881"/>
            <a:ext cx="1874520" cy="430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F7F9FC"/>
                </a:solidFill>
                <a:latin typeface="Aptos"/>
              </a:defRPr>
            </a:pPr>
            <a:r>
              <a:rPr lang="en-IN" dirty="0">
                <a:solidFill>
                  <a:srgbClr val="FFFFFF"/>
                </a:solidFill>
                <a:latin typeface="Aptos"/>
              </a:rPr>
              <a:t>39</a:t>
            </a:r>
            <a:r>
              <a:rPr dirty="0">
                <a:solidFill>
                  <a:srgbClr val="FFFFFF"/>
                </a:solidFill>
                <a:latin typeface="Aptos"/>
              </a:rPr>
              <a:t> papers listed</a:t>
            </a:r>
            <a:br>
              <a:rPr dirty="0"/>
            </a:br>
            <a:r>
              <a:rPr lang="en-IN" dirty="0">
                <a:solidFill>
                  <a:srgbClr val="FFFFFF"/>
                </a:solidFill>
                <a:latin typeface="Aptos"/>
              </a:rPr>
              <a:t>32 </a:t>
            </a:r>
            <a:r>
              <a:rPr dirty="0">
                <a:solidFill>
                  <a:srgbClr val="FFFFFF"/>
                </a:solidFill>
                <a:latin typeface="Aptos"/>
              </a:rPr>
              <a:t>included; </a:t>
            </a:r>
            <a:r>
              <a:rPr lang="en-IN" dirty="0">
                <a:solidFill>
                  <a:srgbClr val="FFFFFF"/>
                </a:solidFill>
                <a:latin typeface="Aptos"/>
              </a:rPr>
              <a:t>7</a:t>
            </a:r>
            <a:r>
              <a:rPr dirty="0">
                <a:solidFill>
                  <a:srgbClr val="FFFFFF"/>
                </a:solidFill>
                <a:latin typeface="Aptos"/>
              </a:rPr>
              <a:t> excluded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2212848"/>
            <a:ext cx="228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62D7D7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691640"/>
            <a:ext cx="2148840" cy="164592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80944" y="1801368"/>
            <a:ext cx="1874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00AEA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2  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2167128"/>
            <a:ext cx="18745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paper_id • pollutant • precursor</a:t>
            </a:r>
            <a:br/>
            <a:r>
              <a:rPr>
                <a:solidFill>
                  <a:srgbClr val="FFFFFF"/>
                </a:solidFill>
                <a:latin typeface="Aptos"/>
              </a:rPr>
              <a:t>properties • conditions • qₑ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2212848"/>
            <a:ext cx="228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62D7D7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691640"/>
            <a:ext cx="2148840" cy="164592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12664" y="1801368"/>
            <a:ext cx="1874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00AEA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3  Harmonize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2167128"/>
            <a:ext cx="18745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units to m²/g, cm³/g, mg/L,</a:t>
            </a:r>
            <a:br/>
            <a:r>
              <a:rPr>
                <a:solidFill>
                  <a:srgbClr val="FFFFFF"/>
                </a:solidFill>
                <a:latin typeface="Aptos"/>
              </a:rPr>
              <a:t>g/L, min and 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212848"/>
            <a:ext cx="228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62D7D7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691640"/>
            <a:ext cx="2148840" cy="164592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44383" y="1801368"/>
            <a:ext cx="1874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F5A623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4  Flag uncertainty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2167128"/>
            <a:ext cx="18745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F7F9FC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  <a:latin typeface="Aptos"/>
              </a:rPr>
              <a:t>graph/table/text/calculated</a:t>
            </a:r>
            <a:br>
              <a:rPr dirty="0"/>
            </a:br>
            <a:r>
              <a:rPr dirty="0">
                <a:solidFill>
                  <a:srgbClr val="FFFFFF"/>
                </a:solidFill>
                <a:latin typeface="Aptos"/>
              </a:rPr>
              <a:t>notes + ambiguous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8632" y="2212848"/>
            <a:ext cx="228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62D7D7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691640"/>
            <a:ext cx="2148840" cy="164592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76104" y="1801368"/>
            <a:ext cx="1874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F5A623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5  Audit &amp;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76104" y="2167128"/>
            <a:ext cx="18745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missingness • duplicates</a:t>
            </a:r>
            <a:br/>
            <a:r>
              <a:rPr>
                <a:solidFill>
                  <a:srgbClr val="FFFFFF"/>
                </a:solidFill>
                <a:latin typeface="Aptos"/>
              </a:rPr>
              <a:t>mass balance • feature selection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9476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00AEA6"/>
                </a:solidFill>
                <a:latin typeface="Aptos"/>
              </a:defRPr>
            </a:pPr>
            <a:r>
              <a:rPr b="1">
                <a:solidFill>
                  <a:srgbClr val="102A43"/>
                </a:solidFill>
                <a:latin typeface="Aptos"/>
              </a:rPr>
              <a:t>CURRENT RAW COMPILATION • 488 ROWS • 19 COLUMNS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251960"/>
            <a:ext cx="1051560" cy="91440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7824" y="4361688"/>
            <a:ext cx="7772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62D7D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MB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727448"/>
            <a:ext cx="7772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212 rows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65960" y="4251960"/>
            <a:ext cx="1051560" cy="91440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12264" y="4361688"/>
            <a:ext cx="7772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00AEA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Pb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12264" y="4727448"/>
            <a:ext cx="7772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103 rows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4251960"/>
            <a:ext cx="1051560" cy="91440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46704" y="4361688"/>
            <a:ext cx="7772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A623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Cd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6704" y="4727448"/>
            <a:ext cx="7772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91 rows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4251960"/>
            <a:ext cx="1051560" cy="91440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81144" y="4361688"/>
            <a:ext cx="7772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E25C5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1144" y="4727448"/>
            <a:ext cx="7772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82 rows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3840480"/>
            <a:ext cx="5394960" cy="18288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•  Missing: C/H/O/N are absent in about 66–70% of rows; pHₚzc 28.7%; C₀ 27.9%; contact time 23.2%.</a:t>
            </a:r>
          </a:p>
          <a:p>
            <a:pPr>
              <a:spcAft>
                <a:spcPts val="500"/>
              </a:spcAft>
              <a:defRPr sz="11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•  Source method: 314 graph, 49 table, 9 text, 116 calculated entries.</a:t>
            </a:r>
          </a:p>
          <a:p>
            <a:pPr>
              <a:spcAft>
                <a:spcPts val="500"/>
              </a:spcAft>
              <a:defRPr sz="11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•  Exact duplicates in the full 19-column compilation: 0. Earlier 14-column export had 44 duplicate copies after IDs/metadata were dropped.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715000"/>
            <a:ext cx="108813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F5A623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Do not call the raw workbook “clean”: final cleaning and pollutant/source-aware modelling remain a work package.</a:t>
            </a:r>
          </a:p>
        </p:txBody>
      </p:sp>
      <p:sp>
        <p:nvSpPr>
          <p:cNvPr id="41" name="Visual accent top slide 6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Visual footer rule slide 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rPr sz="2800" b="1" dirty="0">
                <a:solidFill>
                  <a:srgbClr val="102A43"/>
                </a:solidFill>
                <a:latin typeface="Aptos Display"/>
              </a:rPr>
              <a:t>6. First model: what Linear Regression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A4B7CA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A transparent baseline tests whether a simple additive relationship has predictive signal</a:t>
            </a:r>
            <a:r>
              <a:rPr lang="en-IN" dirty="0">
                <a:solidFill>
                  <a:srgbClr val="253746"/>
                </a:solidFill>
                <a:latin typeface="Aptos"/>
              </a:rPr>
              <a:t> or not</a:t>
            </a:r>
            <a:endParaRPr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05840" cy="41148"/>
          </a:xfrm>
          <a:prstGeom prst="rect">
            <a:avLst/>
          </a:prstGeom>
          <a:solidFill>
            <a:srgbClr val="00AEA6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00AEA6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2120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300" b="1">
                <a:solidFill>
                  <a:srgbClr val="62D7D7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q̂ₑ = β₀ + β₁x₁ + β₂x₂ + … + βₚxₚ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5257800" cy="29718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•  Fit coefficients by ordinary least squares: minimize the sum of squared residuals on training data.</a:t>
            </a:r>
          </a:p>
          <a:p>
            <a:pPr>
              <a:spcAft>
                <a:spcPts val="7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•  Preprocessing: parse numeric fields; midpoint-approximate pH intervals; median-impute missing predictor values inside the pipeline.</a:t>
            </a:r>
          </a:p>
          <a:p>
            <a:pPr>
              <a:spcAft>
                <a:spcPts val="7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•  Features: BET, pore volume, pHₚzc, C₀, pH, dosage, contact time and temperature.</a:t>
            </a:r>
          </a:p>
          <a:p>
            <a:pPr>
              <a:spcAft>
                <a:spcPts val="7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•  Excluded: Cₑ because it is measured after adsorption and can reveal target information; high-missingness C/H/O/N excluded from this first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2286000" cy="137160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664207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00AEA6"/>
                </a:solidFill>
                <a:latin typeface="Aptos"/>
              </a:defRPr>
            </a:pPr>
            <a:r>
              <a:rPr b="1">
                <a:solidFill>
                  <a:srgbClr val="FFFFFF"/>
                </a:solidFill>
                <a:latin typeface="Aptos"/>
              </a:rPr>
              <a:t>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029967"/>
            <a:ext cx="20116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80% train (355)</a:t>
            </a:r>
            <a:br/>
            <a:r>
              <a:rPr>
                <a:solidFill>
                  <a:srgbClr val="FFFFFF"/>
                </a:solidFill>
                <a:latin typeface="Aptos"/>
              </a:rPr>
              <a:t>20% test (89)</a:t>
            </a:r>
            <a:br/>
            <a:r>
              <a:rPr>
                <a:solidFill>
                  <a:srgbClr val="FFFFFF"/>
                </a:solidFill>
                <a:latin typeface="Aptos"/>
              </a:rPr>
              <a:t>random_state = 42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554480"/>
            <a:ext cx="2468880" cy="137160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70264" y="1664207"/>
            <a:ext cx="2194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F5A623"/>
                </a:solidFill>
                <a:latin typeface="Aptos"/>
              </a:defRPr>
            </a:pPr>
            <a:r>
              <a:rPr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0264" y="2029967"/>
            <a:ext cx="21945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5-fold CV on training data; random row split only.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46120"/>
            <a:ext cx="4983480" cy="137160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3355848"/>
            <a:ext cx="4709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A623"/>
                </a:solidFill>
                <a:latin typeface="Aptos"/>
              </a:defRPr>
            </a:pPr>
            <a:r>
              <a:rPr b="1">
                <a:solidFill>
                  <a:srgbClr val="FFFFFF"/>
                </a:solidFill>
                <a:latin typeface="Aptos"/>
              </a:rPr>
              <a:t>IMPORTANT DATA-VERSION NOTE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721608"/>
            <a:ext cx="47091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These metrics came from the earlier 14-column ExpData(1).xlsx export after 44 duplicate rows were removed. The full 19-column CompilationData.xlsx preserves paper_id, pollutant and precursor and has 488 unique full rows.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983480"/>
            <a:ext cx="4572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Next correction: retrain with pollutant identity and preserve paper/material groups; use GroupKFold or source-held-out evaluation.</a:t>
            </a:r>
          </a:p>
        </p:txBody>
      </p:sp>
      <p:sp>
        <p:nvSpPr>
          <p:cNvPr id="19" name="Visual accent top slide 7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Visual footer rule slide 7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rPr sz="2800" b="1" dirty="0">
                <a:solidFill>
                  <a:srgbClr val="102A43"/>
                </a:solidFill>
                <a:latin typeface="Aptos Display"/>
              </a:rPr>
              <a:t>7. Preliminary results — useful signal, not yet generalization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A4B7CA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Reported on the earlier </a:t>
            </a:r>
            <a:r>
              <a:rPr lang="en-IN" dirty="0">
                <a:solidFill>
                  <a:srgbClr val="253746"/>
                </a:solidFill>
                <a:latin typeface="Aptos"/>
              </a:rPr>
              <a:t>cleaned </a:t>
            </a:r>
            <a:r>
              <a:rPr dirty="0">
                <a:solidFill>
                  <a:srgbClr val="253746"/>
                </a:solidFill>
                <a:latin typeface="Aptos"/>
              </a:rPr>
              <a:t>dataset export</a:t>
            </a:r>
            <a:r>
              <a:rPr lang="en-IN" dirty="0">
                <a:solidFill>
                  <a:srgbClr val="253746"/>
                </a:solidFill>
                <a:latin typeface="Aptos"/>
              </a:rPr>
              <a:t>ed from the papers</a:t>
            </a:r>
            <a:endParaRPr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05840" cy="41148"/>
          </a:xfrm>
          <a:prstGeom prst="rect">
            <a:avLst/>
          </a:prstGeom>
          <a:solidFill>
            <a:srgbClr val="00AEA6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00AEA6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651760" cy="132588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618488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00AEA6"/>
                </a:solidFill>
                <a:latin typeface="Aptos"/>
              </a:defRPr>
            </a:pPr>
            <a:r>
              <a:rPr b="1">
                <a:solidFill>
                  <a:srgbClr val="FFFFFF"/>
                </a:solidFill>
                <a:latin typeface="Aptos"/>
              </a:rPr>
              <a:t>TEST R²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984248"/>
            <a:ext cx="23774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0.718</a:t>
            </a:r>
            <a:br/>
            <a:r>
              <a:rPr>
                <a:solidFill>
                  <a:srgbClr val="FFFFFF"/>
                </a:solidFill>
                <a:latin typeface="Aptos"/>
              </a:rPr>
              <a:t>Linear 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08760"/>
            <a:ext cx="2651760" cy="132588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21024" y="1618488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62D7D7"/>
                </a:solidFill>
                <a:latin typeface="Aptos"/>
              </a:defRPr>
            </a:pPr>
            <a:r>
              <a:rPr b="1">
                <a:solidFill>
                  <a:srgbClr val="FFFFFF"/>
                </a:solidFill>
                <a:latin typeface="Aptos"/>
              </a:rPr>
              <a:t>TEST 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1984248"/>
            <a:ext cx="23774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166.24 mg/g</a:t>
            </a:r>
            <a:br/>
            <a:r>
              <a:rPr>
                <a:solidFill>
                  <a:srgbClr val="FFFFFF"/>
                </a:solidFill>
                <a:latin typeface="Aptos"/>
              </a:rPr>
              <a:t>Average absolute 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08760"/>
            <a:ext cx="2651760" cy="132588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1384" y="1618488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A623"/>
                </a:solidFill>
                <a:latin typeface="Aptos"/>
              </a:defRPr>
            </a:pPr>
            <a:r>
              <a:rPr b="1">
                <a:solidFill>
                  <a:srgbClr val="FFFFFF"/>
                </a:solidFill>
                <a:latin typeface="Aptos"/>
              </a:rPr>
              <a:t>TEST RMSE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1984248"/>
            <a:ext cx="23774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226.43 mg/g</a:t>
            </a:r>
            <a:br/>
            <a:r>
              <a:rPr>
                <a:solidFill>
                  <a:srgbClr val="FFFFFF"/>
                </a:solidFill>
                <a:latin typeface="Aptos"/>
              </a:rPr>
              <a:t>Penalizes large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508760"/>
            <a:ext cx="2651760" cy="1325880"/>
          </a:xfrm>
          <a:prstGeom prst="roundRect">
            <a:avLst/>
          </a:prstGeom>
          <a:solidFill>
            <a:srgbClr val="17304E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81744" y="1618488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E25C5C"/>
                </a:solidFill>
                <a:latin typeface="Aptos"/>
              </a:defRPr>
            </a:pPr>
            <a:r>
              <a:rPr b="1">
                <a:solidFill>
                  <a:srgbClr val="FFFFFF"/>
                </a:solidFill>
                <a:latin typeface="Aptos"/>
              </a:rPr>
              <a:t>5-FOLD CV R²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1744" y="1984248"/>
            <a:ext cx="23774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0.542 ± 0.130</a:t>
            </a:r>
            <a:br/>
            <a:r>
              <a:rPr>
                <a:solidFill>
                  <a:srgbClr val="FFFFFF"/>
                </a:solidFill>
                <a:latin typeface="Aptos"/>
              </a:rPr>
              <a:t>Training-fold 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246120"/>
            <a:ext cx="4937760" cy="23317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•  Test MAE is lower than the median baseline (204.60 mg/g); RMSE also improves versus 445.28 mg/g.</a:t>
            </a:r>
          </a:p>
          <a:p>
            <a:pPr>
              <a:spcAft>
                <a:spcPts val="700"/>
              </a:spcAft>
              <a:defRPr sz="12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•  CV R² is lower than the single test R²; variability and skewed qₑ values matter.</a:t>
            </a:r>
          </a:p>
          <a:p>
            <a:pPr>
              <a:spcAft>
                <a:spcPts val="700"/>
              </a:spcAft>
              <a:defRPr sz="12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•  Negative predictions occur; ordinary Linear Regression does not enforce qₑ ≥ 0.</a:t>
            </a:r>
          </a:p>
          <a:p>
            <a:pPr>
              <a:spcAft>
                <a:spcPts val="700"/>
              </a:spcAft>
              <a:defRPr sz="12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•  Coefficients are associations under this model, not causal effects; missingness indicators also carry signal.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F5A623"/>
                </a:solidFill>
                <a:latin typeface="Aptos"/>
              </a:defRPr>
            </a:pPr>
            <a:r>
              <a:rPr>
                <a:solidFill>
                  <a:srgbClr val="253746"/>
                </a:solidFill>
                <a:latin typeface="Aptos"/>
              </a:rPr>
              <a:t>Do not claim “71.8% accuracy”: R² is not classification accuracy, and the random split may be optimistic.</a:t>
            </a:r>
          </a:p>
        </p:txBody>
      </p:sp>
      <p:sp>
        <p:nvSpPr>
          <p:cNvPr id="40" name="Visual accent top slide 8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Visual footer rule slide 8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33B77B5-4C97-EA84-640F-F88E39AAA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80" y="3047238"/>
            <a:ext cx="493210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4632" y="268742"/>
            <a:ext cx="1106424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rPr lang="en-IN" sz="2800" b="1" dirty="0">
                <a:solidFill>
                  <a:srgbClr val="102A43"/>
                </a:solidFill>
                <a:latin typeface="Aptos Display"/>
              </a:rPr>
              <a:t>8</a:t>
            </a:r>
            <a:r>
              <a:rPr sz="2800" b="1" dirty="0">
                <a:solidFill>
                  <a:srgbClr val="102A43"/>
                </a:solidFill>
                <a:latin typeface="Aptos Display"/>
              </a:rPr>
              <a:t>. Remaining-semester roadmap</a:t>
            </a:r>
            <a:r>
              <a:rPr lang="en-IN" sz="2800" b="1" dirty="0">
                <a:solidFill>
                  <a:srgbClr val="102A43"/>
                </a:solidFill>
                <a:latin typeface="Aptos Display"/>
              </a:rPr>
              <a:t> &amp; timeline</a:t>
            </a:r>
            <a:endParaRPr sz="2800" b="1" dirty="0">
              <a:solidFill>
                <a:srgbClr val="102A43"/>
              </a:solidFill>
              <a:latin typeface="Aptos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A4B7CA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Timeline is </a:t>
            </a:r>
            <a:r>
              <a:rPr lang="en-IN" dirty="0">
                <a:solidFill>
                  <a:srgbClr val="253746"/>
                </a:solidFill>
                <a:latin typeface="Aptos"/>
              </a:rPr>
              <a:t>tentative; weeks adjust</a:t>
            </a:r>
            <a:r>
              <a:rPr dirty="0">
                <a:solidFill>
                  <a:srgbClr val="253746"/>
                </a:solidFill>
                <a:latin typeface="Aptos"/>
              </a:rPr>
              <a:t> to the official semester calendar and </a:t>
            </a:r>
            <a:r>
              <a:rPr lang="en-IN" dirty="0">
                <a:solidFill>
                  <a:srgbClr val="253746"/>
                </a:solidFill>
                <a:latin typeface="Aptos"/>
              </a:rPr>
              <a:t>our </a:t>
            </a:r>
            <a:r>
              <a:rPr dirty="0">
                <a:solidFill>
                  <a:srgbClr val="253746"/>
                </a:solidFill>
                <a:latin typeface="Aptos"/>
              </a:rPr>
              <a:t>mentor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05840" cy="41148"/>
          </a:xfrm>
          <a:prstGeom prst="rect">
            <a:avLst/>
          </a:prstGeom>
          <a:solidFill>
            <a:srgbClr val="00AEA6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00AEA6"/>
                </a:solidFill>
                <a:latin typeface="Aptos"/>
              </a:defRPr>
            </a:pPr>
            <a:r>
              <a:rPr lang="en-IN" dirty="0">
                <a:solidFill>
                  <a:srgbClr val="253746"/>
                </a:solidFill>
                <a:latin typeface="Aptos"/>
              </a:rPr>
              <a:t>9</a:t>
            </a:r>
            <a:endParaRPr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6002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00AEA6"/>
                </a:solidFill>
                <a:latin typeface="Aptos"/>
              </a:defRPr>
            </a:pPr>
            <a:r>
              <a:rPr sz="1400" dirty="0">
                <a:solidFill>
                  <a:srgbClr val="253746"/>
                </a:solidFill>
                <a:latin typeface="Aptos"/>
              </a:rPr>
              <a:t>Now → Week </a:t>
            </a:r>
            <a:r>
              <a:rPr lang="en-IN" sz="1400" dirty="0">
                <a:solidFill>
                  <a:srgbClr val="253746"/>
                </a:solidFill>
                <a:latin typeface="Aptos"/>
              </a:rPr>
              <a:t>1</a:t>
            </a:r>
            <a:endParaRPr sz="1400"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31720" y="1417320"/>
            <a:ext cx="7969377" cy="738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Audit source papers, pollutant labels (Pb, Cd, MB, CR), units and ambiguous values; freeze the cleaned master dataset and data dictionary.</a:t>
            </a:r>
          </a:p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9808" y="1755648"/>
            <a:ext cx="32004" cy="292608"/>
          </a:xfrm>
          <a:prstGeom prst="rect">
            <a:avLst/>
          </a:prstGeom>
          <a:solidFill>
            <a:srgbClr val="00AEA6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16002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00AEA6"/>
                </a:solidFill>
                <a:latin typeface="Aptos"/>
              </a:defRPr>
            </a:pPr>
            <a:r>
              <a:rPr sz="1400" dirty="0">
                <a:solidFill>
                  <a:srgbClr val="253746"/>
                </a:solidFill>
                <a:latin typeface="Aptos"/>
              </a:rPr>
              <a:t>Weeks </a:t>
            </a:r>
            <a:r>
              <a:rPr lang="en-IN" sz="1400" dirty="0">
                <a:solidFill>
                  <a:srgbClr val="253746"/>
                </a:solidFill>
                <a:latin typeface="Aptos"/>
              </a:rPr>
              <a:t>1</a:t>
            </a:r>
            <a:r>
              <a:rPr sz="1400" dirty="0">
                <a:solidFill>
                  <a:srgbClr val="253746"/>
                </a:solidFill>
                <a:latin typeface="Aptos"/>
              </a:rPr>
              <a:t>–</a:t>
            </a:r>
            <a:r>
              <a:rPr lang="en-IN" sz="1400" dirty="0">
                <a:solidFill>
                  <a:srgbClr val="253746"/>
                </a:solidFill>
                <a:latin typeface="Aptos"/>
              </a:rPr>
              <a:t>2</a:t>
            </a:r>
            <a:endParaRPr sz="1400"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31720" y="2130552"/>
            <a:ext cx="7937373" cy="738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Retrain Linear Regression; establish a reproducible preprocessing pipeline and evaluate using source/material-grouped validation where identifiers permit.</a:t>
            </a:r>
          </a:p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9808" y="2468880"/>
            <a:ext cx="32004" cy="292608"/>
          </a:xfrm>
          <a:prstGeom prst="rect">
            <a:avLst/>
          </a:prstGeom>
          <a:solidFill>
            <a:srgbClr val="00AEA6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843784"/>
            <a:ext cx="16002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00AEA6"/>
                </a:solidFill>
                <a:latin typeface="Aptos"/>
              </a:defRPr>
            </a:pPr>
            <a:r>
              <a:rPr sz="1400" dirty="0">
                <a:solidFill>
                  <a:srgbClr val="253746"/>
                </a:solidFill>
                <a:latin typeface="Aptos"/>
              </a:rPr>
              <a:t>Weeks </a:t>
            </a:r>
            <a:r>
              <a:rPr lang="en-IN" sz="1400" dirty="0">
                <a:solidFill>
                  <a:srgbClr val="253746"/>
                </a:solidFill>
                <a:latin typeface="Aptos"/>
              </a:rPr>
              <a:t>2-3</a:t>
            </a:r>
            <a:endParaRPr sz="1400"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31720" y="2843784"/>
            <a:ext cx="7905369" cy="738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Compare Linear Regression, Ridge and Random Forest; attempt </a:t>
            </a:r>
            <a:r>
              <a:rPr lang="en-IN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XGBoost</a:t>
            </a: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and other non linear models of ML. Analyse feature effects, residuals and errors across pollutants.</a:t>
            </a:r>
          </a:p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49808" y="3182112"/>
            <a:ext cx="32004" cy="292608"/>
          </a:xfrm>
          <a:prstGeom prst="rect">
            <a:avLst/>
          </a:prstGeom>
          <a:solidFill>
            <a:srgbClr val="00AEA6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557015"/>
            <a:ext cx="16002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00AEA6"/>
                </a:solidFill>
                <a:latin typeface="Aptos"/>
              </a:defRPr>
            </a:pPr>
            <a:r>
              <a:rPr sz="1400" dirty="0">
                <a:solidFill>
                  <a:srgbClr val="253746"/>
                </a:solidFill>
                <a:latin typeface="Aptos"/>
              </a:rPr>
              <a:t>Weeks</a:t>
            </a:r>
            <a:r>
              <a:rPr lang="en-IN" sz="1400" dirty="0">
                <a:solidFill>
                  <a:srgbClr val="253746"/>
                </a:solidFill>
                <a:latin typeface="Aptos"/>
              </a:rPr>
              <a:t> 3-4</a:t>
            </a:r>
            <a:endParaRPr sz="1400"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31720" y="3557015"/>
            <a:ext cx="7969377" cy="738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Validate against available literature/experimental evidence; finalise the </a:t>
            </a:r>
            <a:r>
              <a:rPr lang="en-IN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Streamlit</a:t>
            </a: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UI, results, report, reproducible code and final presentation.</a:t>
            </a:r>
          </a:p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65810" y="4011321"/>
            <a:ext cx="32004" cy="292608"/>
          </a:xfrm>
          <a:prstGeom prst="rect">
            <a:avLst/>
          </a:prstGeom>
          <a:solidFill>
            <a:srgbClr val="00AEA6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269123"/>
            <a:ext cx="16002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00AEA6"/>
                </a:solidFill>
                <a:latin typeface="Aptos"/>
              </a:defRPr>
            </a:pPr>
            <a:r>
              <a:rPr sz="1400" dirty="0">
                <a:solidFill>
                  <a:srgbClr val="253746"/>
                </a:solidFill>
                <a:latin typeface="Aptos"/>
              </a:rPr>
              <a:t>Final phase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5999" y="4215492"/>
            <a:ext cx="8060817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F7F9FC"/>
                </a:solidFill>
                <a:latin typeface="Aptos"/>
              </a:defRPr>
            </a:pPr>
            <a:r>
              <a:rPr sz="1400" dirty="0">
                <a:solidFill>
                  <a:srgbClr val="253746"/>
                </a:solidFill>
                <a:latin typeface="Aptos"/>
              </a:rPr>
              <a:t>Validate against available experiments/literature</a:t>
            </a:r>
            <a:r>
              <a:rPr lang="en-IN" sz="1400" dirty="0">
                <a:solidFill>
                  <a:srgbClr val="253746"/>
                </a:solidFill>
                <a:latin typeface="Aptos"/>
              </a:rPr>
              <a:t> if feasible under semester constraints </a:t>
            </a:r>
            <a:r>
              <a:rPr sz="1400" dirty="0">
                <a:solidFill>
                  <a:srgbClr val="253746"/>
                </a:solidFill>
                <a:latin typeface="Aptos"/>
              </a:rPr>
              <a:t>; prepare report, reproducible code and final presentation.</a:t>
            </a:r>
          </a:p>
        </p:txBody>
      </p:sp>
      <p:sp>
        <p:nvSpPr>
          <p:cNvPr id="25" name="Visual accent top slide 1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Visual footer rule slide 10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6802"/>
            <a:ext cx="1106424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7F9FC"/>
                </a:solidFill>
                <a:latin typeface="Aptos"/>
              </a:defRPr>
            </a:pPr>
            <a:r>
              <a:rPr sz="2800" b="1" dirty="0">
                <a:solidFill>
                  <a:srgbClr val="102A43"/>
                </a:solidFill>
                <a:latin typeface="Aptos Display"/>
              </a:rPr>
              <a:t>Thank you | Questions &amp; </a:t>
            </a:r>
            <a:r>
              <a:rPr lang="en-IN" sz="2800" b="1" dirty="0">
                <a:solidFill>
                  <a:srgbClr val="102A43"/>
                </a:solidFill>
                <a:latin typeface="Aptos Display"/>
              </a:rPr>
              <a:t>D</a:t>
            </a:r>
            <a:r>
              <a:rPr sz="2800" b="1" dirty="0" err="1">
                <a:solidFill>
                  <a:srgbClr val="102A43"/>
                </a:solidFill>
                <a:latin typeface="Aptos Display"/>
              </a:rPr>
              <a:t>iscussion</a:t>
            </a:r>
            <a:r>
              <a:rPr lang="en-IN" sz="2800" b="1" dirty="0">
                <a:solidFill>
                  <a:srgbClr val="102A43"/>
                </a:solidFill>
                <a:latin typeface="Aptos Display"/>
              </a:rPr>
              <a:t>s</a:t>
            </a:r>
            <a:endParaRPr sz="2800" b="1" dirty="0">
              <a:solidFill>
                <a:srgbClr val="102A43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005840" cy="41148"/>
          </a:xfrm>
          <a:prstGeom prst="rect">
            <a:avLst/>
          </a:prstGeom>
          <a:solidFill>
            <a:srgbClr val="00AEA6"/>
          </a:solidFill>
          <a:ln w="889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00AEA6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1</a:t>
            </a:r>
            <a:r>
              <a:rPr lang="en-IN" dirty="0">
                <a:solidFill>
                  <a:srgbClr val="253746"/>
                </a:solidFill>
                <a:latin typeface="Aptos"/>
              </a:rPr>
              <a:t>0</a:t>
            </a:r>
            <a:endParaRPr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93776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00AEA6"/>
                </a:solidFill>
                <a:latin typeface="Aptos"/>
              </a:defRPr>
            </a:pPr>
            <a:r>
              <a:rPr b="1" dirty="0">
                <a:solidFill>
                  <a:srgbClr val="102A43"/>
                </a:solidFill>
                <a:latin typeface="Aptos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3776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F7F9FC"/>
                </a:solidFill>
                <a:latin typeface="Aptos"/>
              </a:defRPr>
            </a:pPr>
            <a:r>
              <a:rPr dirty="0">
                <a:solidFill>
                  <a:srgbClr val="253746"/>
                </a:solidFill>
                <a:latin typeface="Aptos"/>
              </a:rPr>
              <a:t>Aditya Agrawal  •  Sarthak Srivastava</a:t>
            </a:r>
            <a:br>
              <a:rPr dirty="0"/>
            </a:br>
            <a:r>
              <a:rPr lang="en-IN" dirty="0">
                <a:solidFill>
                  <a:srgbClr val="253746"/>
                </a:solidFill>
                <a:latin typeface="Aptos"/>
              </a:rPr>
              <a:t>Ment</a:t>
            </a:r>
            <a:r>
              <a:rPr dirty="0">
                <a:solidFill>
                  <a:srgbClr val="253746"/>
                </a:solidFill>
                <a:latin typeface="Aptos"/>
              </a:rPr>
              <a:t>or: Dr. </a:t>
            </a:r>
            <a:r>
              <a:rPr lang="en-IN" dirty="0" err="1">
                <a:solidFill>
                  <a:srgbClr val="253746"/>
                </a:solidFill>
                <a:latin typeface="Aptos"/>
              </a:rPr>
              <a:t>Vishwendra</a:t>
            </a:r>
            <a:r>
              <a:rPr lang="en-IN" dirty="0">
                <a:solidFill>
                  <a:srgbClr val="253746"/>
                </a:solidFill>
                <a:latin typeface="Aptos"/>
              </a:rPr>
              <a:t> Pratap Singh</a:t>
            </a:r>
            <a:endParaRPr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3081254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00AEA6"/>
                </a:solidFill>
                <a:latin typeface="Aptos"/>
              </a:defRPr>
            </a:pPr>
            <a:r>
              <a:rPr b="1" dirty="0">
                <a:solidFill>
                  <a:srgbClr val="102A43"/>
                </a:solidFill>
                <a:latin typeface="Aptos"/>
              </a:rPr>
              <a:t>KEY PAPERS FROM THE INCLUDED MASTER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523249"/>
            <a:ext cx="6745605" cy="261558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7F9FC"/>
                </a:solidFill>
                <a:latin typeface="Aptos"/>
              </a:defRPr>
            </a:pPr>
            <a:r>
              <a:rPr sz="1350" dirty="0">
                <a:solidFill>
                  <a:srgbClr val="253746"/>
                </a:solidFill>
                <a:latin typeface="Aptos"/>
              </a:rPr>
              <a:t>•  Yi et al. (2016) — Lead(II) adsorption by coal-based activated carbon. </a:t>
            </a:r>
            <a:r>
              <a:rPr sz="1350" dirty="0" err="1">
                <a:solidFill>
                  <a:srgbClr val="253746"/>
                </a:solidFill>
                <a:latin typeface="Aptos"/>
              </a:rPr>
              <a:t>SpringerPlus</a:t>
            </a:r>
            <a:r>
              <a:rPr sz="1350" dirty="0">
                <a:solidFill>
                  <a:srgbClr val="253746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  <a:defRPr sz="1000">
                <a:solidFill>
                  <a:srgbClr val="F7F9FC"/>
                </a:solidFill>
                <a:latin typeface="Aptos"/>
              </a:defRPr>
            </a:pPr>
            <a:r>
              <a:rPr sz="1350" dirty="0">
                <a:solidFill>
                  <a:srgbClr val="253746"/>
                </a:solidFill>
                <a:latin typeface="Aptos"/>
              </a:rPr>
              <a:t>•  Pam et al. (2018) — Pb(II) adsorption using EDTA-modified palm-kernel-shell activated carbon. </a:t>
            </a:r>
            <a:r>
              <a:rPr sz="1350" dirty="0" err="1">
                <a:solidFill>
                  <a:srgbClr val="253746"/>
                </a:solidFill>
                <a:latin typeface="Aptos"/>
              </a:rPr>
              <a:t>BioResources</a:t>
            </a:r>
            <a:r>
              <a:rPr sz="1350" dirty="0">
                <a:solidFill>
                  <a:srgbClr val="253746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  <a:defRPr sz="1000">
                <a:solidFill>
                  <a:srgbClr val="F7F9FC"/>
                </a:solidFill>
                <a:latin typeface="Aptos"/>
              </a:defRPr>
            </a:pPr>
            <a:r>
              <a:rPr sz="1350" dirty="0">
                <a:solidFill>
                  <a:srgbClr val="253746"/>
                </a:solidFill>
                <a:latin typeface="Aptos"/>
              </a:rPr>
              <a:t>•  P020 (2011) — Comparative adsorption isotherms/modeling of methylene blue onto activated carbons. Applied Water Science.</a:t>
            </a:r>
          </a:p>
          <a:p>
            <a:pPr>
              <a:spcAft>
                <a:spcPts val="400"/>
              </a:spcAft>
              <a:defRPr sz="1000">
                <a:solidFill>
                  <a:srgbClr val="F7F9FC"/>
                </a:solidFill>
                <a:latin typeface="Aptos"/>
              </a:defRPr>
            </a:pPr>
            <a:r>
              <a:rPr sz="1350" dirty="0">
                <a:solidFill>
                  <a:srgbClr val="253746"/>
                </a:solidFill>
                <a:latin typeface="Aptos"/>
              </a:rPr>
              <a:t>•  P011 (2024) — Sludge-based activated carbon for Cd(II) and Pb(II). International Journal of Molecular Sciences.</a:t>
            </a:r>
          </a:p>
          <a:p>
            <a:pPr>
              <a:spcAft>
                <a:spcPts val="400"/>
              </a:spcAft>
              <a:defRPr sz="1000">
                <a:solidFill>
                  <a:srgbClr val="F7F9FC"/>
                </a:solidFill>
                <a:latin typeface="Aptos"/>
              </a:defRPr>
            </a:pPr>
            <a:r>
              <a:rPr sz="1350" dirty="0">
                <a:solidFill>
                  <a:srgbClr val="253746"/>
                </a:solidFill>
                <a:latin typeface="Aptos"/>
              </a:rPr>
              <a:t>•  P034 (2025) — Congo red removal using flower-derived activated carbon. Scientific Reports.</a:t>
            </a:r>
          </a:p>
          <a:p>
            <a:pPr>
              <a:spcAft>
                <a:spcPts val="400"/>
              </a:spcAft>
              <a:defRPr sz="1000">
                <a:solidFill>
                  <a:srgbClr val="F7F9FC"/>
                </a:solidFill>
                <a:latin typeface="Aptos"/>
              </a:defRPr>
            </a:pPr>
            <a:r>
              <a:rPr sz="1350" dirty="0">
                <a:solidFill>
                  <a:srgbClr val="253746"/>
                </a:solidFill>
                <a:latin typeface="Aptos"/>
              </a:rPr>
              <a:t>•  P035 (2020) — Activated carbons for methylene blue and Congo red removal. Scientific Reports.</a:t>
            </a:r>
          </a:p>
        </p:txBody>
      </p:sp>
      <p:sp>
        <p:nvSpPr>
          <p:cNvPr id="17" name="Visual accent top slide 1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Visual footer rule slide 11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E304935-9387-B450-98FD-729DF8F66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584" y="718412"/>
            <a:ext cx="3572256" cy="53583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1716</Words>
  <Application>Microsoft Office PowerPoint</Application>
  <PresentationFormat>Widescreen</PresentationFormat>
  <Paragraphs>145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Aditya Agrawal</dc:creator>
  <cp:keywords/>
  <dc:description>generated using python-pptx</dc:description>
  <cp:lastModifiedBy>Aditya Agrawal</cp:lastModifiedBy>
  <cp:revision>4</cp:revision>
  <dcterms:created xsi:type="dcterms:W3CDTF">2013-01-27T09:14:16Z</dcterms:created>
  <dcterms:modified xsi:type="dcterms:W3CDTF">2026-10-12T22:43:17Z</dcterms:modified>
  <cp:category/>
</cp:coreProperties>
</file>